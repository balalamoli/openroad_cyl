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0D231-97A9-B333-E58F-8342BF05F424}" v="274" dt="2026-02-05T17:56:28.889"/>
    <p1510:client id="{E596FC18-7CA5-C1E4-A15A-3255856FFD1F}" v="96" dt="2026-02-05T17:29:25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7D880-69DE-41B6-BB8D-0CCE25B96D3E}" type="datetimeFigureOut">
              <a:t>05/02/2026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A54FE-8366-4A83-BEF3-773785CC360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6273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3980" y="637251"/>
            <a:ext cx="7338448" cy="109728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6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OpenRoadCyL</a:t>
            </a:r>
            <a:endParaRPr lang="en-US" sz="6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4064" y="277225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Incidencias de Tráfico en Castilla y León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1319293" y="3685497"/>
            <a:ext cx="3580109" cy="1069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Estudiantes</a:t>
            </a:r>
            <a:r>
              <a:rPr lang="en-US"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>
                <a:solidFill>
                  <a:srgbClr val="F5F5F5"/>
                </a:solidFill>
                <a:ea typeface="Calibri"/>
                <a:cs typeface="Calibri"/>
              </a:rPr>
              <a:t> Adrián Moreno Muñoz</a:t>
            </a:r>
          </a:p>
          <a:p>
            <a:pPr algn="ctr"/>
            <a:r>
              <a:rPr lang="en-US" sz="1400">
                <a:solidFill>
                  <a:srgbClr val="F5F5F5"/>
                </a:solidFill>
                <a:ea typeface="Calibri"/>
                <a:cs typeface="Calibri"/>
              </a:rPr>
              <a:t>David</a:t>
            </a:r>
            <a:r>
              <a:rPr lang="en-US" sz="1400">
                <a:solidFill>
                  <a:srgbClr val="F5F5F5"/>
                </a:solidFill>
                <a:latin typeface="Calibri" panose="020F0502020204030204"/>
                <a:ea typeface="Calibri"/>
                <a:cs typeface="Calibri"/>
              </a:rPr>
              <a:t> Rodríguez Perez</a:t>
            </a:r>
            <a:endParaRPr lang="en-US"/>
          </a:p>
          <a:p>
            <a:pPr algn="ctr"/>
            <a:endParaRPr lang="en-US" sz="1400">
              <a:solidFill>
                <a:srgbClr val="F5F5F5"/>
              </a:solidFill>
              <a:latin typeface="Calibri" panose="020F0502020204030204"/>
              <a:ea typeface="Calibri"/>
              <a:cs typeface="Calibri"/>
            </a:endParaRPr>
          </a:p>
          <a:p>
            <a:pPr algn="ctr"/>
            <a:r>
              <a:rPr lang="en-US" sz="1400" b="1">
                <a:solidFill>
                  <a:srgbClr val="F5F5F5"/>
                </a:solidFill>
                <a:latin typeface="Calibri" panose="020F0502020204030204"/>
                <a:ea typeface="Calibri"/>
                <a:cs typeface="Calibri"/>
              </a:rPr>
              <a:t>Equipo:</a:t>
            </a:r>
          </a:p>
          <a:p>
            <a:pPr marL="0" indent="0" algn="ctr">
              <a:buNone/>
            </a:pPr>
            <a:r>
              <a:rPr lang="en-US" sz="1400" err="1">
                <a:solidFill>
                  <a:srgbClr val="F5F5F5"/>
                </a:solidFill>
                <a:latin typeface="Calibri" panose="020F0502020204030204"/>
                <a:ea typeface="Calibri"/>
                <a:cs typeface="Calibri"/>
              </a:rPr>
              <a:t>Radares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400" b="1">
              <a:solidFill>
                <a:srgbClr val="F5F5F5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 algn="ctr">
              <a:buNone/>
            </a:pPr>
            <a:endParaRPr lang="en-US" sz="1400" b="1">
              <a:solidFill>
                <a:srgbClr val="F5F5F5"/>
              </a:solidFill>
              <a:ea typeface="Calibri"/>
              <a:cs typeface="Calibri"/>
            </a:endParaRP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880B24F-0B90-2021-0082-E324A8CE3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9727" y="-676144"/>
            <a:ext cx="5007890" cy="4998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CCFB66A1-4014-5266-793E-F23953923638}"/>
              </a:ext>
            </a:extLst>
          </p:cNvPr>
          <p:cNvSpPr/>
          <p:nvPr/>
        </p:nvSpPr>
        <p:spPr>
          <a:xfrm>
            <a:off x="4575324" y="3315703"/>
            <a:ext cx="3580109" cy="143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Fecha: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400">
                <a:solidFill>
                  <a:srgbClr val="F5F5F5"/>
                </a:solidFill>
                <a:ea typeface="Calibri"/>
                <a:cs typeface="Calibri"/>
              </a:rPr>
              <a:t>Valladolid a 6 de </a:t>
            </a:r>
            <a:r>
              <a:rPr lang="en-US" sz="1400" err="1">
                <a:solidFill>
                  <a:srgbClr val="F5F5F5"/>
                </a:solidFill>
                <a:ea typeface="Calibri"/>
                <a:cs typeface="Calibri"/>
              </a:rPr>
              <a:t>febrero</a:t>
            </a:r>
            <a:r>
              <a:rPr lang="en-US" sz="1400">
                <a:solidFill>
                  <a:srgbClr val="F5F5F5"/>
                </a:solidFill>
                <a:ea typeface="Calibri"/>
                <a:cs typeface="Calibri"/>
              </a:rPr>
              <a:t> de 2026</a:t>
            </a:r>
          </a:p>
          <a:p>
            <a:pPr marL="0" indent="0" algn="ctr"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b="1" err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400" b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2ºDAW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249523"/>
            <a:ext cx="9140124" cy="6648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Contextualización del proyecto y conjunto de datos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Funcionalidades Destacadas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Mapa Interactivo en Tiempo Real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Sistema de Actualización Automática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Gestión de Usuarios y Favoritos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Arquitectura Técnica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Stack tecnológico completo del sistema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Conclusiones y Líneas Futuras</a:t>
            </a:r>
            <a:endParaRPr lang="en-US" sz="2400"/>
          </a:p>
          <a:p>
            <a:pPr marL="0" indent="0">
              <a:lnSpc>
                <a:spcPts val="2000"/>
              </a:lnSpc>
              <a:buNone/>
            </a:pPr>
            <a:r>
              <a:rPr lang="en-US" sz="16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Logros alcanzados y proyección del proyecto</a:t>
            </a:r>
            <a:endParaRPr lang="en-US" sz="2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365760"/>
            <a:ext cx="9140124" cy="54864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OpenRoadCyL?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completo para gestión de incidencias de tráfico en Castilla y León</a:t>
            </a:r>
            <a:endParaRPr lang="en-US" sz="1400"/>
          </a:p>
          <a:p>
            <a:pPr marL="0" indent="0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la API oficial de Datos Abiertos de la Junta de Castilla y León</a:t>
            </a:r>
            <a:endParaRPr lang="en-US" sz="1400"/>
          </a:p>
          <a:p>
            <a:pPr marL="0" indent="0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 sobre el estado de las carreteras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Conjunto de Datos</a:t>
            </a:r>
            <a:endParaRPr lang="en-US" sz="220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0116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JCyL (datosabiertos.jcyl.es)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Actualización: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30 minutos automáticamente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red de carreteras de CyL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incidencias:</a:t>
            </a:r>
            <a:endParaRPr lang="en-US" sz="1300"/>
          </a:p>
          <a:p>
            <a:pPr marL="0" indent="0">
              <a:lnSpc>
                <a:spcPts val="16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Accidentes, obras, meteorológicas, retenciones</a:t>
            </a:r>
            <a:endParaRPr lang="en-US" sz="13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-2324"/>
            <a:ext cx="9140124" cy="96515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 1: Mapa Interactivo en Tiempo Real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48796" y="1106693"/>
            <a:ext cx="82296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Geográfica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26344" y="1842171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incidencias mostradas en mapa interactivo con OpenStreetMap y Leaflet.js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Diferenciados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tipo: Accidentes, Obras, Meteorológicas, Retenciones</a:t>
            </a:r>
            <a:endParaRPr lang="en-US" sz="1200"/>
          </a:p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estado: Activa, En proceso, Resuelta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Dinámicos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en tiempo real por provincia, tipo de incidencia y estado de resolución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para móviles, tablets y escritorio con popups informativos detallados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-2324"/>
            <a:ext cx="9140124" cy="94578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 2: Sistema de Actualización Automática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57200" y="1173928"/>
            <a:ext cx="82296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Inteligente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Descarga automática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Cada 30 minutos desde API oficial JCyL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Comparación inteligente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Entre datos nuevos y anteriores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Estados automáticos: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Nueva incidencia → </a:t>
            </a:r>
            <a:r>
              <a:rPr lang="en-US" sz="13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Continúa presente → </a:t>
            </a:r>
            <a:r>
              <a:rPr lang="en-US" sz="13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Ya no aparece → </a:t>
            </a:r>
            <a:r>
              <a:rPr lang="en-US" sz="1300" b="1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Backend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con arquitectura MVC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de responsabilidades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tareas programadas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93192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detallados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todas las operaciones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3931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b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geocodificación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rendimiento (90%+ hit rate)</a:t>
            </a:r>
            <a:endParaRPr lang="en-US" sz="13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-2324"/>
            <a:ext cx="9140124" cy="104264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 3: Gestión de Usuarios y Favoritos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448796" y="1157119"/>
            <a:ext cx="822960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Autenticación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Registro y login seguro con bcrypt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Sesiones protegidas con timeout automático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Separación completa de datos por usuario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Personalizadas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 de favoritos por usuario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Estadísticas personalizadas con Chart.js</a:t>
            </a:r>
            <a:endParaRPr lang="en-US" sz="1300"/>
          </a:p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Gráficos dinámicos por provincia y tipo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dinámicos e interactivos que permiten analizar incidencias por provincia, tipo y estado de resolución, facilitando la toma de decisiones informadas sobre rutas alternativas.</a:t>
            </a:r>
            <a:endParaRPr lang="en-US" sz="14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8" y="201091"/>
            <a:ext cx="9140124" cy="71330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Técnica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+ CSS3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 ES6+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Leaflet.js (mapas)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Chart.js (gráficos)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Diseño responsive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43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473823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7.4+ MVC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optimizado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APIs REST JSON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Seguridad multicapa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Cron automation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7432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27432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Integración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JCyL oficial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Nominatim geocoding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OpenStreetMap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inteligente</a:t>
            </a:r>
            <a:endParaRPr lang="en-US" sz="1300"/>
          </a:p>
          <a:p>
            <a:pPr marL="0" indent="0">
              <a:lnSpc>
                <a:spcPts val="2000"/>
              </a:lnSpc>
              <a:buNone/>
            </a:pPr>
            <a:r>
              <a:rPr lang="en-US" sz="130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detallados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481" y="-4034"/>
            <a:ext cx="9149811" cy="55290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Conclusiones y Líneas Futuras</a:t>
            </a:r>
            <a:endParaRPr lang="en-US" sz="2800">
              <a:latin typeface="Arial Blac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3712" y="619021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03285" y="615995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Conseguidos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3712" y="1090004"/>
            <a:ext cx="4123204" cy="26443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✓ Sistema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completo</a:t>
            </a: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funcional</a:t>
            </a:r>
            <a:endParaRPr lang="en-US" sz="1400" err="1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producción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Integración</a:t>
            </a: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exitosa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 con API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oficial</a:t>
            </a: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JCyL</a:t>
            </a:r>
            <a:endParaRPr lang="en-US" sz="140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Actualización</a:t>
            </a: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automática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 sin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intervención</a:t>
            </a: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manual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Interfaz</a:t>
            </a: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intuitiva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 y responsive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✓ </a:t>
            </a:r>
            <a:r>
              <a:rPr lang="en-US" sz="1400" b="1" err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Seguridad</a:t>
            </a: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 robusta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4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implementada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00965" y="615995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 de Desarrollo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700965" y="1090004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Notificaciones push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incidencias críticas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móvil nativa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iOS y Android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Predicción de tráfico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 machine learning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pública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terceros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 b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Expansión a otras</a:t>
            </a:r>
            <a:endParaRPr lang="en-US" sz="1400"/>
          </a:p>
          <a:p>
            <a:pPr marL="0" indent="0">
              <a:lnSpc>
                <a:spcPts val="1600"/>
              </a:lnSpc>
              <a:buNone/>
            </a:pPr>
            <a:r>
              <a:rPr lang="en-US" sz="14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comunidades autónomas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06774" y="3922958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37832" y="39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Proyecto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61958" y="432164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información vial disponible para ciudadanos • Facilita la toma de decisiones de rutas alternativas • Contribuye a la seguridad vial en Castilla y León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8</Slides>
  <Notes>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OpenRoadCyL - Sistema de Gestión de Incidencias de Tráfico</dc:title>
  <dc:subject>PptxGenJS Presentation</dc:subject>
  <dc:creator>OpenRoadCyL Project</dc:creator>
  <cp:revision>2</cp:revision>
  <dcterms:created xsi:type="dcterms:W3CDTF">2026-02-05T17:17:52Z</dcterms:created>
  <dcterms:modified xsi:type="dcterms:W3CDTF">2026-02-05T19:29:44Z</dcterms:modified>
</cp:coreProperties>
</file>